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79EE-3B76-46D8-B6AE-E6DF777155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F58DA-CE08-4E3A-99CE-513DA7A38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35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79EE-3B76-46D8-B6AE-E6DF777155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F58DA-CE08-4E3A-99CE-513DA7A38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302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79EE-3B76-46D8-B6AE-E6DF777155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F58DA-CE08-4E3A-99CE-513DA7A38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987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79EE-3B76-46D8-B6AE-E6DF777155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F58DA-CE08-4E3A-99CE-513DA7A38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334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79EE-3B76-46D8-B6AE-E6DF777155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F58DA-CE08-4E3A-99CE-513DA7A38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8707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79EE-3B76-46D8-B6AE-E6DF777155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F58DA-CE08-4E3A-99CE-513DA7A38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914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79EE-3B76-46D8-B6AE-E6DF777155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F58DA-CE08-4E3A-99CE-513DA7A38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363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79EE-3B76-46D8-B6AE-E6DF777155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F58DA-CE08-4E3A-99CE-513DA7A38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03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79EE-3B76-46D8-B6AE-E6DF777155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F58DA-CE08-4E3A-99CE-513DA7A38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666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79EE-3B76-46D8-B6AE-E6DF777155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F58DA-CE08-4E3A-99CE-513DA7A38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689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79EE-3B76-46D8-B6AE-E6DF777155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F58DA-CE08-4E3A-99CE-513DA7A3813F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4568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79EE-3B76-46D8-B6AE-E6DF777155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F58DA-CE08-4E3A-99CE-513DA7A38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0033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79EE-3B76-46D8-B6AE-E6DF777155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F58DA-CE08-4E3A-99CE-513DA7A3813F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24897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79EE-3B76-46D8-B6AE-E6DF777155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F58DA-CE08-4E3A-99CE-513DA7A38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4566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79EE-3B76-46D8-B6AE-E6DF777155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F58DA-CE08-4E3A-99CE-513DA7A38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6429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179EE-3B76-46D8-B6AE-E6DF777155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F58DA-CE08-4E3A-99CE-513DA7A38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901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B179EE-3B76-46D8-B6AE-E6DF777155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9AF58DA-CE08-4E3A-99CE-513DA7A381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225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9EA6B-3479-37B8-8398-5B049D5D16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6537" y="1241945"/>
            <a:ext cx="7239686" cy="1050879"/>
          </a:xfrm>
        </p:spPr>
        <p:txBody>
          <a:bodyPr/>
          <a:lstStyle/>
          <a:p>
            <a:pPr algn="ctr"/>
            <a:r>
              <a:rPr lang="en-IN" sz="4000" dirty="0">
                <a:solidFill>
                  <a:srgbClr val="00B0F0"/>
                </a:solidFill>
              </a:rPr>
              <a:t>GROCERY BILL PREDICTOR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1E53F7-280D-9E07-D940-44D371559B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3317535">
            <a:off x="10533260" y="6115393"/>
            <a:ext cx="45719" cy="114972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98287D9-DA33-F937-AC0F-AD91D3BB8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039130"/>
              </p:ext>
            </p:extLst>
          </p:nvPr>
        </p:nvGraphicFramePr>
        <p:xfrm>
          <a:off x="1296537" y="3085478"/>
          <a:ext cx="7321572" cy="2707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646">
                  <a:extLst>
                    <a:ext uri="{9D8B030D-6E8A-4147-A177-3AD203B41FA5}">
                      <a16:colId xmlns:a16="http://schemas.microsoft.com/office/drawing/2014/main" val="3971163459"/>
                    </a:ext>
                  </a:extLst>
                </a:gridCol>
                <a:gridCol w="3179929">
                  <a:extLst>
                    <a:ext uri="{9D8B030D-6E8A-4147-A177-3AD203B41FA5}">
                      <a16:colId xmlns:a16="http://schemas.microsoft.com/office/drawing/2014/main" val="2359308855"/>
                    </a:ext>
                  </a:extLst>
                </a:gridCol>
                <a:gridCol w="1610436">
                  <a:extLst>
                    <a:ext uri="{9D8B030D-6E8A-4147-A177-3AD203B41FA5}">
                      <a16:colId xmlns:a16="http://schemas.microsoft.com/office/drawing/2014/main" val="2700151010"/>
                    </a:ext>
                  </a:extLst>
                </a:gridCol>
                <a:gridCol w="1760561">
                  <a:extLst>
                    <a:ext uri="{9D8B030D-6E8A-4147-A177-3AD203B41FA5}">
                      <a16:colId xmlns:a16="http://schemas.microsoft.com/office/drawing/2014/main" val="4167931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905970"/>
                  </a:ext>
                </a:extLst>
              </a:tr>
              <a:tr h="390272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Virendra Pal(Team Leader)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BCAI2024126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3861022"/>
                  </a:ext>
                </a:extLst>
              </a:tr>
              <a:tr h="390272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Vivek Verma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BCCC2024017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479148"/>
                  </a:ext>
                </a:extLst>
              </a:tr>
              <a:tr h="390272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Anamta Niyazi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BCAI2024019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561931"/>
                  </a:ext>
                </a:extLst>
              </a:tr>
              <a:tr h="390272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Arshdeep Kaur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BCAI2024034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269727"/>
                  </a:ext>
                </a:extLst>
              </a:tr>
              <a:tr h="390272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Suryansh Shrivastav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BCAI2024017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592494"/>
                  </a:ext>
                </a:extLst>
              </a:tr>
              <a:tr h="390272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Piyush Gupta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BCAI2024116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137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7058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6726F4F-0E2F-D36C-99EB-4CE37E8F1651}"/>
              </a:ext>
            </a:extLst>
          </p:cNvPr>
          <p:cNvSpPr txBox="1"/>
          <p:nvPr/>
        </p:nvSpPr>
        <p:spPr>
          <a:xfrm>
            <a:off x="1498708" y="1923204"/>
            <a:ext cx="610737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IN" b="1" dirty="0"/>
              <a:t>🧾 Project Setup and Data LoadingThe first steps involved setting up the environment and loading the data.</a:t>
            </a:r>
          </a:p>
          <a:p>
            <a:pPr marL="457200" indent="-457200">
              <a:buAutoNum type="arabicPeriod"/>
            </a:pPr>
            <a:r>
              <a:rPr lang="en-IN" b="1" dirty="0"/>
              <a:t>Import Libraries: Necessary Python libraries were imported, including pandas for data manipulation, matplotlib and seaborn for visualization, and sklearn for machine learning.</a:t>
            </a:r>
          </a:p>
          <a:p>
            <a:pPr marL="457200" indent="-457200">
              <a:buAutoNum type="arabicPeriod"/>
            </a:pPr>
            <a:r>
              <a:rPr lang="en-IN" b="1" dirty="0"/>
              <a:t>Load Data: The dataset was loaded from a CSV file named bills.csv into 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D7D41E-D72D-1B08-A75C-E11A539AAA56}"/>
              </a:ext>
            </a:extLst>
          </p:cNvPr>
          <p:cNvSpPr txBox="1"/>
          <p:nvPr/>
        </p:nvSpPr>
        <p:spPr>
          <a:xfrm>
            <a:off x="1764894" y="4508527"/>
            <a:ext cx="67146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import python libraries import pandas as pd </a:t>
            </a:r>
          </a:p>
          <a:p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import matplotlib.pyplot as plt </a:t>
            </a:r>
          </a:p>
          <a:p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import seaborn as sns from sklearn.model_selection </a:t>
            </a:r>
          </a:p>
          <a:p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import train_test_split from sklearn.linear_model </a:t>
            </a:r>
          </a:p>
          <a:p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import LinearRegression from sklearn.metrics I</a:t>
            </a:r>
          </a:p>
          <a:p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import mean_squared_error, r2_score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4F7A93-CB51-7812-D984-89807E055D41}"/>
              </a:ext>
            </a:extLst>
          </p:cNvPr>
          <p:cNvSpPr txBox="1"/>
          <p:nvPr/>
        </p:nvSpPr>
        <p:spPr>
          <a:xfrm>
            <a:off x="1764895" y="1063624"/>
            <a:ext cx="5204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  Project Works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58883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8599BE-1F99-446C-3E88-94C6587A1551}"/>
              </a:ext>
            </a:extLst>
          </p:cNvPr>
          <p:cNvSpPr txBox="1"/>
          <p:nvPr/>
        </p:nvSpPr>
        <p:spPr>
          <a:xfrm>
            <a:off x="1173707" y="1146412"/>
            <a:ext cx="798735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2. 🧹 Data Inspection and CleaningOnce loaded, the data was inspected and cleaned to prepare it for analysis</a:t>
            </a:r>
            <a:r>
              <a:rPr lang="en-IN" dirty="0"/>
              <a:t>.</a:t>
            </a:r>
          </a:p>
          <a:p>
            <a:r>
              <a:rPr lang="en-IN" dirty="0"/>
              <a:t>Initial Inspection: The data's structure was checked using:</a:t>
            </a:r>
          </a:p>
          <a:p>
            <a:r>
              <a:rPr lang="en-IN" dirty="0"/>
              <a:t>       a) df.shape to find the dimensions, which were (8523, 18).</a:t>
            </a:r>
          </a:p>
          <a:p>
            <a:r>
              <a:rPr lang="en-IN" dirty="0"/>
              <a:t>       b)df.head() to view the first few rows. After clean rows 1000 and  columns 18</a:t>
            </a:r>
          </a:p>
          <a:p>
            <a:r>
              <a:rPr lang="en-IN" dirty="0"/>
              <a:t>       df.info() to review data types and non-null counts.</a:t>
            </a:r>
          </a:p>
          <a:p>
            <a:r>
              <a:rPr lang="en-IN" dirty="0"/>
              <a:t> i) Handle Missing Values: Null values were dropped from the DataFrame using df.dropna(inplace=True). A subsequent check confirmed there were 0 null values remaining.</a:t>
            </a:r>
          </a:p>
          <a:p>
            <a:r>
              <a:rPr lang="en-IN" dirty="0"/>
              <a:t>ii) Rename Columns: For clarity, two columns were renamed:Total was renamed to Bills.gross margin percentage was renamed to GMP.</a:t>
            </a:r>
          </a:p>
          <a:p>
            <a:r>
              <a:rPr lang="en-IN" dirty="0"/>
              <a:t>iii)Drop Columns: The gross income and GMP columns were dropped from the DataFrame.</a:t>
            </a:r>
          </a:p>
        </p:txBody>
      </p:sp>
    </p:spTree>
    <p:extLst>
      <p:ext uri="{BB962C8B-B14F-4D97-AF65-F5344CB8AC3E}">
        <p14:creationId xmlns:p14="http://schemas.microsoft.com/office/powerpoint/2010/main" val="1187941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67C3BA-93AA-EBC1-B1D1-28A88BD2A94A}"/>
              </a:ext>
            </a:extLst>
          </p:cNvPr>
          <p:cNvSpPr txBox="1"/>
          <p:nvPr/>
        </p:nvSpPr>
        <p:spPr>
          <a:xfrm>
            <a:off x="3053687" y="754756"/>
            <a:ext cx="6107372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C00000"/>
                </a:solidFill>
              </a:rPr>
              <a:t>3. 📊 Exploratory Data Analysis (EDA)With clean data, various analyses and visualizations were performed to understand trends.</a:t>
            </a:r>
          </a:p>
          <a:p>
            <a:pPr marL="400050" indent="-400050">
              <a:buAutoNum type="romanLcParenR"/>
            </a:pPr>
            <a:r>
              <a:rPr lang="en-IN" sz="1600" dirty="0"/>
              <a:t>Statistical Summary: Descriptive statistics were generated for all numeric columns using </a:t>
            </a:r>
          </a:p>
          <a:p>
            <a:pPr marL="400050" indent="-400050">
              <a:buAutoNum type="romanLcParenR"/>
            </a:pPr>
            <a:r>
              <a:rPr lang="en-IN" sz="1600" dirty="0"/>
              <a:t>df.describe() and specifically for the Bills column. After cleaning, the dataset had 1,000 entries.</a:t>
            </a:r>
          </a:p>
          <a:p>
            <a:pPr marL="400050" indent="-400050">
              <a:buAutoNum type="romanLcParenR"/>
            </a:pPr>
            <a:r>
              <a:rPr lang="en-IN" sz="1600" dirty="0"/>
              <a:t>Correlation Analysis: A correlation matrix was computed for numeric columns only and visualized using a seaborn heatmap.</a:t>
            </a:r>
          </a:p>
          <a:p>
            <a:pPr marL="400050" indent="-400050">
              <a:buAutoNum type="romanLcParenR"/>
            </a:pPr>
            <a:r>
              <a:rPr lang="en-IN" sz="1600" dirty="0"/>
              <a:t>Categorical Analysis: Several plots were created to understand relationships between categories and sales:</a:t>
            </a:r>
          </a:p>
          <a:p>
            <a:r>
              <a:rPr lang="en-IN" sz="1600" dirty="0"/>
              <a:t>          a) Gender: A count plot showed the distribution of male (499) and female (501) customers. A bar chart showed that total sales from females were slightly higher than from males.</a:t>
            </a:r>
          </a:p>
          <a:p>
            <a:r>
              <a:rPr lang="en-IN" sz="1600" dirty="0"/>
              <a:t>          b) City: A boxplot was used to visualize the distribution of bill amounts by 'City’.</a:t>
            </a:r>
          </a:p>
          <a:p>
            <a:pPr marL="400050" indent="-400050">
              <a:buAutoNum type="romanLcParenR" startAt="4"/>
            </a:pPr>
            <a:r>
              <a:rPr lang="en-IN" sz="1600" dirty="0"/>
              <a:t>Quantity: A bar chart showed the total 'Bills' summed by 'Quantity' purchased.</a:t>
            </a:r>
          </a:p>
          <a:p>
            <a:pPr marL="400050" indent="-400050">
              <a:buAutoNum type="romanLcParenR" startAt="4"/>
            </a:pPr>
            <a:r>
              <a:rPr lang="en-IN" sz="1600" dirty="0"/>
              <a:t>Distribution Analysis: A histogram was plotted to show the distribution of 'Bills', revealing that most bills are concentrated in the lower range.</a:t>
            </a:r>
          </a:p>
        </p:txBody>
      </p:sp>
    </p:spTree>
    <p:extLst>
      <p:ext uri="{BB962C8B-B14F-4D97-AF65-F5344CB8AC3E}">
        <p14:creationId xmlns:p14="http://schemas.microsoft.com/office/powerpoint/2010/main" val="1520087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876380-13E3-EFD5-EB57-A853B1B5399B}"/>
              </a:ext>
            </a:extLst>
          </p:cNvPr>
          <p:cNvSpPr txBox="1"/>
          <p:nvPr/>
        </p:nvSpPr>
        <p:spPr>
          <a:xfrm>
            <a:off x="1801504" y="1665027"/>
            <a:ext cx="645880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4. ⚙ Model Preparation (Feature Engineering)Before training a model, the data was transformed into a suitable format</a:t>
            </a:r>
            <a:r>
              <a:rPr lang="en-IN" dirty="0"/>
              <a:t>.</a:t>
            </a:r>
          </a:p>
          <a:p>
            <a:r>
              <a:rPr lang="en-IN" dirty="0"/>
              <a:t> i) Encode Categorical Variables: Categorical columns (Branch, City, Customer type, Gender, Product line, Payment) were converted into numerical dummy variables using pd.get_dummies.</a:t>
            </a:r>
          </a:p>
          <a:p>
            <a:r>
              <a:rPr lang="en-IN" dirty="0"/>
              <a:t>ii) Define Features and Target:</a:t>
            </a:r>
          </a:p>
          <a:p>
            <a:r>
              <a:rPr lang="en-IN" dirty="0"/>
              <a:t>    a)Target (y): The Bills column was selected as the target variable to be predicted.</a:t>
            </a:r>
          </a:p>
          <a:p>
            <a:r>
              <a:rPr lang="en-IN" dirty="0"/>
              <a:t>    b) Features (X): The features included all processed columns except Invoice ID, Date, Time, Bills, and Shop Opening Year.</a:t>
            </a:r>
          </a:p>
          <a:p>
            <a:r>
              <a:rPr lang="en-IN" dirty="0"/>
              <a:t>iii) Split Dataset: The data was split into training (80%) and testing (20%) sets using train_test_split.</a:t>
            </a:r>
          </a:p>
        </p:txBody>
      </p:sp>
    </p:spTree>
    <p:extLst>
      <p:ext uri="{BB962C8B-B14F-4D97-AF65-F5344CB8AC3E}">
        <p14:creationId xmlns:p14="http://schemas.microsoft.com/office/powerpoint/2010/main" val="3885034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90D7F-BD08-5D9D-10DB-DA602F956ABA}"/>
              </a:ext>
            </a:extLst>
          </p:cNvPr>
          <p:cNvSpPr txBox="1"/>
          <p:nvPr/>
        </p:nvSpPr>
        <p:spPr>
          <a:xfrm>
            <a:off x="1743502" y="1753570"/>
            <a:ext cx="6107372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5. 🤖 Model Training and EvaluationA predictive model was built and evaluated to see how accurately it could predict bill amounts</a:t>
            </a:r>
            <a:r>
              <a:rPr lang="en-IN" dirty="0"/>
              <a:t>.</a:t>
            </a:r>
          </a:p>
          <a:p>
            <a:r>
              <a:rPr lang="en-IN" dirty="0"/>
              <a:t> i) Train Model: A LinearRegression model was initialized and trained on the training data (X_train, y_train).</a:t>
            </a:r>
          </a:p>
          <a:p>
            <a:r>
              <a:rPr lang="en-IN" dirty="0"/>
              <a:t>ii) Make Predictions: The trained model was used to make predictions on the unseen test data (X_test).Evaluate Performance: The model's performance was measured, resulting in:</a:t>
            </a:r>
          </a:p>
          <a:p>
            <a:r>
              <a:rPr lang="en-IN" dirty="0"/>
              <a:t>     a) Mean Squared Error: 0.00</a:t>
            </a:r>
          </a:p>
          <a:p>
            <a:r>
              <a:rPr lang="en-IN" dirty="0"/>
              <a:t>     b) R-squared score: 1.00</a:t>
            </a:r>
          </a:p>
          <a:p>
            <a:r>
              <a:rPr lang="en-IN" dirty="0"/>
              <a:t>iii) Visualize Results: A scatter plot was created to compare the Actual Bills (y_test) against the Predicted Bills (y_pred), showing a perfect diagonal line.</a:t>
            </a:r>
          </a:p>
        </p:txBody>
      </p:sp>
    </p:spTree>
    <p:extLst>
      <p:ext uri="{BB962C8B-B14F-4D97-AF65-F5344CB8AC3E}">
        <p14:creationId xmlns:p14="http://schemas.microsoft.com/office/powerpoint/2010/main" val="2458497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50E2E5-75B1-F80D-C8AD-485DA61B3DA3}"/>
              </a:ext>
            </a:extLst>
          </p:cNvPr>
          <p:cNvSpPr/>
          <p:nvPr/>
        </p:nvSpPr>
        <p:spPr>
          <a:xfrm>
            <a:off x="2873892" y="2967335"/>
            <a:ext cx="37965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ED3ADD-CA61-7424-1B41-5BD6F82DFA2F}"/>
              </a:ext>
            </a:extLst>
          </p:cNvPr>
          <p:cNvSpPr/>
          <p:nvPr/>
        </p:nvSpPr>
        <p:spPr>
          <a:xfrm>
            <a:off x="3831337" y="3945256"/>
            <a:ext cx="1963550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1400" b="0" cap="none" spc="0" dirty="0">
                <a:ln w="0"/>
                <a:solidFill>
                  <a:schemeClr val="tx1"/>
                </a:solidFill>
              </a:rPr>
              <a:t>Lead By : Virendra Pal</a:t>
            </a:r>
            <a:endParaRPr lang="en-GB" sz="5400" b="0" cap="none" spc="0" dirty="0">
              <a:ln w="0"/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510808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117</TotalTime>
  <Words>798</Words>
  <Application>Microsoft Office PowerPoint</Application>
  <PresentationFormat>Widescreen</PresentationFormat>
  <Paragraphs>70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GROCERY BILL PREDICTOR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virendra pal</dc:creator>
  <cp:lastModifiedBy>virendra pal</cp:lastModifiedBy>
  <cp:revision>5</cp:revision>
  <dcterms:created xsi:type="dcterms:W3CDTF">2025-11-10T04:10:08Z</dcterms:created>
  <dcterms:modified xsi:type="dcterms:W3CDTF">2025-11-23T05:42:44Z</dcterms:modified>
</cp:coreProperties>
</file>